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5" r:id="rId6"/>
    <p:sldId id="266" r:id="rId7"/>
    <p:sldId id="268" r:id="rId8"/>
    <p:sldId id="267" r:id="rId9"/>
    <p:sldId id="260" r:id="rId10"/>
    <p:sldId id="261" r:id="rId11"/>
    <p:sldId id="262" r:id="rId12"/>
    <p:sldId id="263" r:id="rId13"/>
    <p:sldId id="264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7635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32411"/>
            <a:ext cx="10698480" cy="679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4400" b="1" dirty="0" smtClean="0">
                <a:solidFill>
                  <a:srgbClr val="A0AE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СРО</a:t>
            </a: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2122714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Вариант 14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Журнал событий веб-сервиса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35139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0C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Технология: Apache Cassandra  |  Time-bucketing &amp; Hot-partition control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990702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Дисциплина: Проектирование и применение NoSQL-технологий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курс, ОП «Информационные системы»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83920" y="4784271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400" dirty="0" smtClean="0">
                <a:solidFill>
                  <a:srgbClr val="A0AE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Исполнитель: Маркелов Д. </a:t>
            </a:r>
          </a:p>
          <a:p>
            <a:pPr marL="0" indent="0" algn="ctr">
              <a:buNone/>
            </a:pPr>
            <a:endParaRPr lang="en-US" sz="1300" dirty="0"/>
          </a:p>
        </p:txBody>
      </p:sp>
      <p:pic>
        <p:nvPicPr>
          <p:cNvPr id="8" name="Рисунок 7" descr="Образовательная платформа ATU SkillsHub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1502" y="48988"/>
            <a:ext cx="4820193" cy="6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и цель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303520" cy="5029200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Микросервисы генерируют поток логов.
Без правильной модели данных:
• unbounded partitions
• hot partition на популярном сервисе
• медленные «последние N»
• рост latency при увеличении объёма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914400"/>
            <a:ext cx="5303520" cy="50292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097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64592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Реализовать прототип журнала событий на Cassandra с: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daily / hourly bucketing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эффективным «последние N»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фильтром по level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демонстрацией anti-hot-partition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≥ 30 синтетических записей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полным CRUD и тестами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Вариант 14  |  Стр. 2/9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Требования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Функциональные (≥ 6)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FR1 Регистрация сервисов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FR2 Запись события (CREATE)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FR3 Последние N за день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FR4 Фильтр по level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FR5 Диапазон [t1,t2] (кросс-день)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FR6 Удаление события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FR7 COUNT в партиции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FR8 Hourly bucket (HV)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822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Нефункциональные (≥ 3)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NFR1 Bounded partitions (день/час)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NFR2 Предсказуемая latency LIMIT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2057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NFR3 TTL 30 / 7 дней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2468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NFR4 Горизонтальное масштабирование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3200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Patterns: AP1–AP8 (см. отчёт / README)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Вариант 14  |  Стр. 3/9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технологии — ADR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41148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Альтернатива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Плюсы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Минусы для задачи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MongoDB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Гибкая схема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Слабый контроль размера партиций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Скорость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RAM, не для long-term логов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SQL, mature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Вертикальное масштабирование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Elasticsearch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Full-text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Избыточен, дорого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767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Cassandra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767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Write-scale, TWCS, buckets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767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 JOIN (решается denorm)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914400"/>
            <a:ext cx="11247120" cy="5029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2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Альтернатива          Плюсы                              Минусы для задачи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Вариант 14  |  Стр. 4/9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98" y="267370"/>
            <a:ext cx="10029648" cy="4056436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3059122" y="4647252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ru-RU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подключение к </a:t>
            </a:r>
            <a:r>
              <a:rPr lang="ru-RU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Cassandra</a:t>
            </a:r>
            <a:r>
              <a:rPr lang="ru-RU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, регистрация сервисов, вставка 60 событий, подсчёт по сервисам.</a:t>
            </a:r>
          </a:p>
        </p:txBody>
      </p:sp>
    </p:spTree>
    <p:extLst>
      <p:ext uri="{BB962C8B-B14F-4D97-AF65-F5344CB8AC3E}">
        <p14:creationId xmlns:p14="http://schemas.microsoft.com/office/powerpoint/2010/main" val="3534428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857" y="258743"/>
            <a:ext cx="8893084" cy="5118464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3031399" y="556165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ru-RU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Q1 — список сервисов, Q2 — последние 5 событий </a:t>
            </a:r>
            <a:r>
              <a:rPr lang="ru-RU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auth-service</a:t>
            </a:r>
            <a:r>
              <a:rPr lang="ru-RU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4049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1749" y="84689"/>
            <a:ext cx="8148501" cy="5287472"/>
          </a:xfrm>
          <a:prstGeom prst="rect">
            <a:avLst/>
          </a:prstGeom>
        </p:spPr>
      </p:pic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391193" y="5542787"/>
            <a:ext cx="940961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ru-RU" altLang="ru-RU" sz="18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Q5 — события за 48 часов (несколько дней, приложение само объединяет </a:t>
            </a:r>
            <a:r>
              <a:rPr kumimoji="0" lang="ru-RU" altLang="ru-RU" sz="1800" b="1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партиции</a:t>
            </a:r>
            <a:r>
              <a:rPr kumimoji="0" lang="ru-RU" altLang="ru-RU" sz="18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ru-RU" altLang="ru-RU" sz="18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Q8 — демонстрация, что </a:t>
            </a:r>
            <a:r>
              <a:rPr kumimoji="0" lang="ru-RU" altLang="ru-RU" sz="1800" b="1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партиции</a:t>
            </a:r>
            <a:r>
              <a:rPr kumimoji="0" lang="ru-RU" altLang="ru-RU" sz="18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ограничены одним днём (защита от </a:t>
            </a:r>
            <a:r>
              <a:rPr kumimoji="0" lang="ru-RU" altLang="ru-RU" sz="1800" b="1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hot</a:t>
            </a:r>
            <a:r>
              <a:rPr kumimoji="0" lang="ru-RU" altLang="ru-RU" sz="18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1800" b="1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partition</a:t>
            </a:r>
            <a:r>
              <a:rPr kumimoji="0" lang="ru-RU" altLang="ru-RU" sz="18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57458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19" y="209006"/>
            <a:ext cx="9734837" cy="3699238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4598488" y="4524494"/>
            <a:ext cx="316509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ru-RU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Тесты (</a:t>
            </a:r>
            <a:r>
              <a:rPr lang="en-US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pytest</a:t>
            </a:r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tests/ -v</a:t>
            </a:r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ru-RU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Все 4 теста прошли.</a:t>
            </a:r>
          </a:p>
          <a:p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08057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данных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 ((service_name, day), event_time, event_id)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CLUSTERING ORDER BY (event_time DESC, event_id DESC)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743200" cy="2926080"/>
          </a:xfrm>
          <a:prstGeom prst="roundRect">
            <a:avLst>
              <a:gd name="adj" fmla="val 3333"/>
            </a:avLst>
          </a:prstGeom>
          <a:solidFill>
            <a:srgbClr val="2B6CB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0116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events_by_service_day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9260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Основной журнал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PK: (svc, day)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30 дней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828800"/>
            <a:ext cx="2743200" cy="2926080"/>
          </a:xfrm>
          <a:prstGeom prst="roundRect">
            <a:avLst>
              <a:gd name="adj" fmla="val 3333"/>
            </a:avLst>
          </a:prstGeom>
          <a:solidFill>
            <a:srgbClr val="C53030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20116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events_by_service_hour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29260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Anti-hot-partition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PK: (svc, hour)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7 дней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743200" cy="2926080"/>
          </a:xfrm>
          <a:prstGeom prst="roundRect">
            <a:avLst>
              <a:gd name="adj" fmla="val 3333"/>
            </a:avLst>
          </a:prstGeom>
          <a:solidFill>
            <a:srgbClr val="276749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0116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events_by_level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55080" y="29260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Денормализация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PK: (svc, day, level)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Быстрый фильтр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98280" y="1828800"/>
            <a:ext cx="2743200" cy="2926080"/>
          </a:xfrm>
          <a:prstGeom prst="roundRect">
            <a:avLst>
              <a:gd name="adj" fmla="val 3333"/>
            </a:avLst>
          </a:prstGeom>
          <a:solidFill>
            <a:srgbClr val="805AD5"/>
          </a:solidFill>
          <a:ln/>
        </p:spPr>
      </p:sp>
      <p:sp>
        <p:nvSpPr>
          <p:cNvPr id="14" name="Text 12"/>
          <p:cNvSpPr/>
          <p:nvPr/>
        </p:nvSpPr>
        <p:spPr>
          <a:xfrm>
            <a:off x="9235440" y="20116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235440" y="29260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Метаданные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PK: service_name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Вариант 14  |  Стр. 5/9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0" y="91440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2B6CB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0" y="1051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91440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051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0" y="91440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C5303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0" y="1051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api-gw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601200" y="91440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2B6CB0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0" y="1051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1737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EventProducer (Python repository)  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371600" y="2286000"/>
            <a:ext cx="9418320" cy="3200400"/>
          </a:xfrm>
          <a:prstGeom prst="roundRect">
            <a:avLst>
              <a:gd name="adj" fmla="val 2857"/>
            </a:avLst>
          </a:prstGeom>
          <a:solidFill>
            <a:srgbClr val="FFFAF0"/>
          </a:solidFill>
          <a:ln w="25400">
            <a:solidFill>
              <a:srgbClr val="DD6B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242316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Cassandra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310896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events_by_service_day     |     events_by_service_hour     |     events_by_level     |     services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54480" y="393192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TimeWindowCompactionStrategy  •  TTL  •  Token-aware driver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54480" y="457200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bucket → bounded partitions    |    Hourly bucket → anti-hot-partition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Вариант 14  |  Стр. 6/9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Реализация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Стек: Python 3 + cassandra-driver + pytest + Docker Cassandra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926080" cy="54864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898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src/schema.py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0" y="138988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CQL DDL: keyspace, 4 таблицы, TWCS, TTL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2926080" cy="54864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756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src/models.py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0" y="207568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Event, day_bucket(), hour_bucket()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2926080" cy="54864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7614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src/repository.py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276148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+ AP1–AP8 (prepared statements)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2926080" cy="54864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447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scripts/seed.py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344728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60 синтетических событий за 3 дня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2926080" cy="54864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330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scripts/demo_queries.py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413308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8 запросов, 2 нетривиальных (Q5, Q8)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709160"/>
            <a:ext cx="2926080" cy="54864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8188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0" y="481888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3 сценария: create/read, level, delete+count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Вариант 14  |  Стр. 7/9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запросов и тестов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Демо-запросы (фрагмент)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Q2  Latest 5 — auth-service @ today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Q3  ERROR — payment-service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Q5  [non-trivial] order-service 48h cross-day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Q6  Hourly bucket — api-gateway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Q8  [non-trivial] Partition size control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75120" y="914400"/>
            <a:ext cx="5029200" cy="4754880"/>
          </a:xfrm>
          <a:prstGeom prst="roundRect">
            <a:avLst>
              <a:gd name="adj" fmla="val 1923"/>
            </a:avLst>
          </a:prstGeom>
          <a:solidFill>
            <a:srgbClr val="F0FFF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10972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Тесты (pytest)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1645920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create + read_latest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(newest-first order)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read_by_level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(ERROR vs INFO)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delete + count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(row disappears)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time_range cross-day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(bonus)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Вариант 14  |  Стр. 8/9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Ограничения, выводы, GitHub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Ограничения прототипа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Один узел, RF=1  •  Кросс-дневные запросы последовательные  •  Нет app-level auth  •  Синтетика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Реализован полный прототип, удовлетворяющий всем требованиям варианта 14 и критериям СРО: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6 FR + ≥ 3 NFR, ≥ 8 Access Patterns, ADR, CRUD, ≥ 60 записей, ≥ 8 запросов (2 non-trivial), ≥ 3 теста,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README, отчёт, презентация. Daily/hourly bucketing демонстрирует контроль партиций и anti-hot-partition.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0" y="4023360"/>
            <a:ext cx="7589520" cy="1463040"/>
          </a:xfrm>
          <a:prstGeom prst="roundRect">
            <a:avLst>
              <a:gd name="adj" fmla="val 6250"/>
            </a:avLst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0" y="4297680"/>
            <a:ext cx="7223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GitHub-</a:t>
            </a:r>
            <a:r>
              <a:rPr lang="en-US" sz="1600" b="1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репозиторий</a:t>
            </a:r>
            <a:r>
              <a:rPr lang="ru-RU" sz="1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https://github.com/dimamarkelov2005-wq/SRO_NoSQL/tree/main/SRO_14var</a:t>
            </a:r>
            <a:endParaRPr 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Вариант 14  |  Стр. 9/9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692</Words>
  <Application>Microsoft Office PowerPoint</Application>
  <PresentationFormat>Широкоэкранный</PresentationFormat>
  <Paragraphs>149</Paragraphs>
  <Slides>13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Calibri</vt:lpstr>
      <vt:lpstr>Courier New</vt:lpstr>
      <vt:lpstr>Times New Roman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Журнал событий веб-сервиса — Cassandra</dc:title>
  <dc:subject>PptxGenJS Presentation</dc:subject>
  <dc:creator>SRO Variant 14</dc:creator>
  <cp:lastModifiedBy>Dmitriy</cp:lastModifiedBy>
  <cp:revision>6</cp:revision>
  <dcterms:created xsi:type="dcterms:W3CDTF">2026-10-14T09:47:40Z</dcterms:created>
  <dcterms:modified xsi:type="dcterms:W3CDTF">2026-10-22T21:19:02Z</dcterms:modified>
</cp:coreProperties>
</file>